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Barlow Bold" panose="020B0604020202020204" charset="0"/>
      <p:regular r:id="rId9"/>
    </p:embeddedFont>
    <p:embeddedFont>
      <p:font typeface="Montserrat" panose="00000500000000000000" pitchFamily="2" charset="0"/>
      <p:regular r:id="rId10"/>
      <p:bold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60" d="100"/>
          <a:sy n="160" d="100"/>
        </p:scale>
        <p:origin x="-1374" y="-9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1025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03794" y="3204326"/>
            <a:ext cx="6355993" cy="519609"/>
          </a:xfrm>
          <a:prstGeom prst="rect">
            <a:avLst/>
          </a:prstGeom>
          <a:noFill/>
          <a:ln/>
        </p:spPr>
        <p:txBody>
          <a:bodyPr wrap="none" lIns="0" tIns="0" rIns="0" bIns="0" rtlCol="0" anchor="t"/>
          <a:lstStyle/>
          <a:p>
            <a:pPr marL="0" indent="0" algn="l">
              <a:lnSpc>
                <a:spcPct val="104000"/>
              </a:lnSpc>
              <a:buNone/>
            </a:pPr>
            <a:r>
              <a:rPr lang="en-US" sz="3250" b="1" dirty="0">
                <a:solidFill>
                  <a:srgbClr val="2E3C4E"/>
                </a:solidFill>
                <a:latin typeface="Barlow Bold" pitchFamily="34" charset="0"/>
                <a:ea typeface="Barlow Bold" pitchFamily="34" charset="-122"/>
                <a:cs typeface="Barlow Bold" pitchFamily="34" charset="-120"/>
              </a:rPr>
              <a:t>Designprozess Voice Agent</a:t>
            </a:r>
            <a:endParaRPr lang="en-US" sz="3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1908" y="1966473"/>
            <a:ext cx="10927878" cy="519609"/>
          </a:xfrm>
          <a:prstGeom prst="rect">
            <a:avLst/>
          </a:prstGeom>
          <a:noFill/>
          <a:ln/>
        </p:spPr>
        <p:txBody>
          <a:bodyPr wrap="none" lIns="0" tIns="0" rIns="0" bIns="0" rtlCol="0" anchor="t"/>
          <a:lstStyle/>
          <a:p>
            <a:pPr marL="0" indent="0" algn="l">
              <a:lnSpc>
                <a:spcPct val="104000"/>
              </a:lnSpc>
              <a:buNone/>
            </a:pPr>
            <a:r>
              <a:rPr lang="en-US" sz="3250" b="1" dirty="0">
                <a:solidFill>
                  <a:srgbClr val="2E3C4E"/>
                </a:solidFill>
                <a:latin typeface="Barlow Bold" pitchFamily="34" charset="0"/>
                <a:ea typeface="Barlow Bold" pitchFamily="34" charset="-122"/>
                <a:cs typeface="Barlow Bold" pitchFamily="34" charset="-120"/>
              </a:rPr>
              <a:t>Zielsetzung</a:t>
            </a:r>
            <a:endParaRPr lang="en-US" sz="3250" dirty="0"/>
          </a:p>
        </p:txBody>
      </p:sp>
      <p:sp>
        <p:nvSpPr>
          <p:cNvPr id="3" name="Text 1"/>
          <p:cNvSpPr/>
          <p:nvPr/>
        </p:nvSpPr>
        <p:spPr>
          <a:xfrm>
            <a:off x="631908" y="2766814"/>
            <a:ext cx="11537463" cy="252710"/>
          </a:xfrm>
          <a:prstGeom prst="rect">
            <a:avLst/>
          </a:prstGeom>
          <a:noFill/>
          <a:ln/>
        </p:spPr>
        <p:txBody>
          <a:bodyPr wrap="none" lIns="0" tIns="0" rIns="0" bIns="0" rtlCol="0" anchor="t"/>
          <a:lstStyle/>
          <a:p>
            <a:pPr marL="0" indent="0" algn="l">
              <a:lnSpc>
                <a:spcPct val="133000"/>
              </a:lnSpc>
              <a:buNone/>
            </a:pPr>
            <a:r>
              <a:rPr lang="en-US" sz="1200" dirty="0">
                <a:solidFill>
                  <a:srgbClr val="384653"/>
                </a:solidFill>
                <a:latin typeface="Montserrat" pitchFamily="34" charset="0"/>
                <a:ea typeface="Montserrat" pitchFamily="34" charset="-122"/>
                <a:cs typeface="Montserrat" pitchFamily="34" charset="-120"/>
              </a:rPr>
              <a:t>Startup Profile mit</a:t>
            </a:r>
            <a:endParaRPr lang="en-US" sz="1200" dirty="0"/>
          </a:p>
        </p:txBody>
      </p:sp>
      <p:sp>
        <p:nvSpPr>
          <p:cNvPr id="4" name="Text 2"/>
          <p:cNvSpPr/>
          <p:nvPr/>
        </p:nvSpPr>
        <p:spPr>
          <a:xfrm>
            <a:off x="631908" y="3197225"/>
            <a:ext cx="10927878" cy="868660"/>
          </a:xfrm>
          <a:prstGeom prst="rect">
            <a:avLst/>
          </a:prstGeom>
          <a:noFill/>
          <a:ln/>
        </p:spPr>
        <p:txBody>
          <a:bodyPr wrap="square" lIns="0" tIns="0" rIns="0" bIns="0" rtlCol="0" anchor="t">
            <a:normAutofit/>
          </a:bodyPr>
          <a:lstStyle/>
          <a:p>
            <a:pPr marL="243840" indent="-243840" algn="l">
              <a:lnSpc>
                <a:spcPct val="133000"/>
              </a:lnSpc>
              <a:buSzPct val="100000"/>
              <a:buChar char="•"/>
            </a:pPr>
            <a:r>
              <a:rPr lang="en-US" sz="1200" dirty="0">
                <a:solidFill>
                  <a:srgbClr val="384653"/>
                </a:solidFill>
                <a:latin typeface="Montserrat" pitchFamily="34" charset="0"/>
                <a:ea typeface="Montserrat" pitchFamily="34" charset="-122"/>
                <a:cs typeface="Montserrat" pitchFamily="34" charset="-120"/>
              </a:rPr>
              <a:t>definierten Fragen</a:t>
            </a:r>
            <a:endParaRPr lang="en-US" sz="1200" dirty="0"/>
          </a:p>
          <a:p>
            <a:pPr marL="243840" indent="-243840" algn="l">
              <a:lnSpc>
                <a:spcPct val="133000"/>
              </a:lnSpc>
              <a:buSzPct val="100000"/>
              <a:buChar char="•"/>
            </a:pPr>
            <a:r>
              <a:rPr lang="en-US" sz="1200" dirty="0">
                <a:solidFill>
                  <a:srgbClr val="384653"/>
                </a:solidFill>
                <a:latin typeface="Montserrat" pitchFamily="34" charset="0"/>
                <a:ea typeface="Montserrat" pitchFamily="34" charset="-122"/>
                <a:cs typeface="Montserrat" pitchFamily="34" charset="-120"/>
              </a:rPr>
              <a:t>gleicher Struktur in jedem Interview</a:t>
            </a:r>
            <a:endParaRPr lang="en-US" sz="1200" dirty="0"/>
          </a:p>
          <a:p>
            <a:pPr marL="243840" indent="-243840" algn="l">
              <a:lnSpc>
                <a:spcPct val="133000"/>
              </a:lnSpc>
              <a:buSzPct val="100000"/>
              <a:buChar char="•"/>
            </a:pPr>
            <a:r>
              <a:rPr lang="en-US" sz="1200" dirty="0">
                <a:solidFill>
                  <a:srgbClr val="384653"/>
                </a:solidFill>
                <a:latin typeface="Montserrat" pitchFamily="34" charset="0"/>
                <a:ea typeface="Montserrat" pitchFamily="34" charset="-122"/>
                <a:cs typeface="Montserrat" pitchFamily="34" charset="-120"/>
              </a:rPr>
              <a:t>Match zu Kriterien</a:t>
            </a:r>
            <a:endParaRPr lang="en-US" sz="1200" dirty="0"/>
          </a:p>
        </p:txBody>
      </p:sp>
      <p:sp>
        <p:nvSpPr>
          <p:cNvPr id="5" name="Text 3"/>
          <p:cNvSpPr/>
          <p:nvPr/>
        </p:nvSpPr>
        <p:spPr>
          <a:xfrm>
            <a:off x="631908" y="4243586"/>
            <a:ext cx="10927878" cy="683121"/>
          </a:xfrm>
          <a:prstGeom prst="rect">
            <a:avLst/>
          </a:prstGeom>
          <a:noFill/>
          <a:ln/>
        </p:spPr>
        <p:txBody>
          <a:bodyPr wrap="square" lIns="0" tIns="0" rIns="0" bIns="0" rtlCol="0" anchor="t"/>
          <a:lstStyle/>
          <a:p>
            <a:pPr marL="0" indent="0" algn="l">
              <a:lnSpc>
                <a:spcPct val="133000"/>
              </a:lnSpc>
              <a:spcAft>
                <a:spcPts val="1350"/>
              </a:spcAft>
              <a:buNone/>
            </a:pPr>
            <a:r>
              <a:rPr lang="en-US" sz="1200" dirty="0">
                <a:solidFill>
                  <a:srgbClr val="384653"/>
                </a:solidFill>
                <a:latin typeface="Montserrat" pitchFamily="34" charset="0"/>
                <a:ea typeface="Montserrat" pitchFamily="34" charset="-122"/>
                <a:cs typeface="Montserrat" pitchFamily="34" charset="-120"/>
              </a:rPr>
              <a:t>=&gt; deterministische Gesprächssteuerung</a:t>
            </a:r>
            <a:endParaRPr lang="en-US" sz="1200" dirty="0"/>
          </a:p>
          <a:p>
            <a:pPr marL="0" indent="0" algn="l">
              <a:lnSpc>
                <a:spcPct val="133000"/>
              </a:lnSpc>
              <a:buNone/>
            </a:pPr>
            <a:r>
              <a:rPr lang="en-US" sz="1200" dirty="0">
                <a:solidFill>
                  <a:srgbClr val="384653"/>
                </a:solidFill>
                <a:latin typeface="Montserrat" pitchFamily="34" charset="0"/>
                <a:ea typeface="Montserrat" pitchFamily="34" charset="-122"/>
                <a:cs typeface="Montserrat" pitchFamily="34" charset="-120"/>
              </a:rPr>
              <a:t>Die KI wird auf Extraktion von Details beschränkt, sie erkennt ob Nachfragen nötig sind und ermittelt Zahlenwerte und Kategoriewerte.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1908" y="485784"/>
            <a:ext cx="10927878" cy="422275"/>
          </a:xfrm>
          <a:prstGeom prst="rect">
            <a:avLst/>
          </a:prstGeom>
          <a:noFill/>
          <a:ln/>
        </p:spPr>
        <p:txBody>
          <a:bodyPr wrap="none" lIns="0" tIns="0" rIns="0" bIns="0" rtlCol="0" anchor="t"/>
          <a:lstStyle/>
          <a:p>
            <a:pPr marL="0" indent="0" algn="l">
              <a:lnSpc>
                <a:spcPct val="104000"/>
              </a:lnSpc>
              <a:buNone/>
            </a:pPr>
            <a:r>
              <a:rPr lang="en-US" sz="2650" b="1" dirty="0">
                <a:solidFill>
                  <a:srgbClr val="2E3C4E"/>
                </a:solidFill>
                <a:latin typeface="Barlow Bold" pitchFamily="34" charset="0"/>
                <a:ea typeface="Barlow Bold" pitchFamily="34" charset="-122"/>
                <a:cs typeface="Barlow Bold" pitchFamily="34" charset="-120"/>
              </a:rPr>
              <a:t>Designalternativen</a:t>
            </a:r>
            <a:endParaRPr lang="en-US" sz="2650" dirty="0"/>
          </a:p>
        </p:txBody>
      </p:sp>
      <p:sp>
        <p:nvSpPr>
          <p:cNvPr id="3" name="Text 1"/>
          <p:cNvSpPr/>
          <p:nvPr/>
        </p:nvSpPr>
        <p:spPr>
          <a:xfrm>
            <a:off x="631908" y="1089921"/>
            <a:ext cx="11537463" cy="186134"/>
          </a:xfrm>
          <a:prstGeom prst="rect">
            <a:avLst/>
          </a:prstGeom>
          <a:noFill/>
          <a:ln/>
        </p:spPr>
        <p:txBody>
          <a:bodyPr wrap="none" lIns="0" tIns="0" rIns="0" bIns="0" rtlCol="0" anchor="t"/>
          <a:lstStyle/>
          <a:p>
            <a:pPr marL="0" indent="0" algn="l">
              <a:lnSpc>
                <a:spcPct val="121000"/>
              </a:lnSpc>
              <a:buNone/>
            </a:pPr>
            <a:r>
              <a:rPr lang="en-US" sz="1000" dirty="0">
                <a:solidFill>
                  <a:srgbClr val="384653"/>
                </a:solidFill>
                <a:latin typeface="Montserrat" pitchFamily="34" charset="0"/>
                <a:ea typeface="Montserrat" pitchFamily="34" charset="-122"/>
                <a:cs typeface="Montserrat" pitchFamily="34" charset="-120"/>
              </a:rPr>
              <a:t>folgende Designalternativen existieren</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1908" y="1392238"/>
          <a:ext cx="10927879" cy="4994944"/>
        </p:xfrm>
        <a:graphic>
          <a:graphicData uri="http://schemas.openxmlformats.org/drawingml/2006/table">
            <a:tbl>
              <a:tblPr/>
              <a:tblGrid>
                <a:gridCol w="2185556">
                  <a:extLst>
                    <a:ext uri="{9D8B030D-6E8A-4147-A177-3AD203B41FA5}">
                      <a16:colId xmlns:a16="http://schemas.microsoft.com/office/drawing/2014/main" val="20000"/>
                    </a:ext>
                  </a:extLst>
                </a:gridCol>
                <a:gridCol w="3059798">
                  <a:extLst>
                    <a:ext uri="{9D8B030D-6E8A-4147-A177-3AD203B41FA5}">
                      <a16:colId xmlns:a16="http://schemas.microsoft.com/office/drawing/2014/main" val="20001"/>
                    </a:ext>
                  </a:extLst>
                </a:gridCol>
                <a:gridCol w="2622727">
                  <a:extLst>
                    <a:ext uri="{9D8B030D-6E8A-4147-A177-3AD203B41FA5}">
                      <a16:colId xmlns:a16="http://schemas.microsoft.com/office/drawing/2014/main" val="20002"/>
                    </a:ext>
                  </a:extLst>
                </a:gridCol>
                <a:gridCol w="3059798">
                  <a:extLst>
                    <a:ext uri="{9D8B030D-6E8A-4147-A177-3AD203B41FA5}">
                      <a16:colId xmlns:a16="http://schemas.microsoft.com/office/drawing/2014/main" val="20003"/>
                    </a:ext>
                  </a:extLst>
                </a:gridCol>
              </a:tblGrid>
              <a:tr h="513147">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Design</a:t>
                      </a:r>
                      <a:endParaRPr lang="en-US" sz="1000" dirty="0">
                        <a:latin typeface="Montserrat" charset="0"/>
                        <a:ea typeface="Montserrat" charset="0"/>
                        <a:cs typeface="Montserrat" charset="0"/>
                      </a:endParaRPr>
                    </a:p>
                  </a:txBody>
                  <a:tcPr marL="128358" marR="128358"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Funktionsweise</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Vorteil</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Warum wir es für diese Demo nicht gewählt haben</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0"/>
                  </a:ext>
                </a:extLst>
              </a:tr>
              <a:tr h="888581">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Aktuell: vordefinierte Fragen, KI-Extraktion</a:t>
                      </a:r>
                      <a:endParaRPr lang="en-US" sz="1000" dirty="0">
                        <a:latin typeface="Montserrat" charset="0"/>
                        <a:ea typeface="Montserrat" charset="0"/>
                        <a:cs typeface="Montserrat" charset="0"/>
                      </a:endParaRPr>
                    </a:p>
                  </a:txBody>
                  <a:tcPr marL="128358" marR="128358"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OpenAI interpretiert die Antworten; das Backend wählt eine konfigurierte Frage oder Rückfrage aus.</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Vorhersehbare Abdeckung, begrenzte Nachfragen, einfaches Testen, ein Modellaufruf pro Gesprächsrunde.</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(unsere Wahl)</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1"/>
                  </a:ext>
                </a:extLst>
              </a:tr>
              <a:tr h="1074711">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Backend wählt das Ziel, KI formuliert die Frage</a:t>
                      </a:r>
                      <a:endParaRPr lang="en-US" sz="1000" dirty="0">
                        <a:latin typeface="Montserrat" charset="0"/>
                        <a:ea typeface="Montserrat" charset="0"/>
                        <a:cs typeface="Montserrat" charset="0"/>
                      </a:endParaRPr>
                    </a:p>
                  </a:txBody>
                  <a:tcPr marL="128358" marR="128358"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Das Backend entscheidet, welche Informationen fehlen; OpenAI generiert anhand des Gesprächskontexts eine natürlich klingende Frage.</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Persönlicherer und kontextbezogenerer Dialog bei gleichzeitiger Kontrolle über das Interview.</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Eine einfache Umsetzung erfordert nach Extraktion und Validierung einen weiteren Modellaufruf, was die Latenz erhöht und Formulierungen einführt, die geprüft werden müssen.</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2"/>
                  </a:ext>
                </a:extLst>
              </a:tr>
              <a:tr h="1260840">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Ein Modellaufruf extrahiert Antworten und schlägt die nächste Frage vor</a:t>
                      </a:r>
                      <a:endParaRPr lang="en-US" sz="1000" dirty="0">
                        <a:latin typeface="Montserrat" charset="0"/>
                        <a:ea typeface="Montserrat" charset="0"/>
                        <a:cs typeface="Montserrat" charset="0"/>
                      </a:endParaRPr>
                    </a:p>
                  </a:txBody>
                  <a:tcPr marL="128358" marR="128358"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OpenAI liefert sowohl strukturierte Antworten als auch eine vorgeschlagene Formulierung für die nächste Frage. Das Backend validiert beides.</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Natürlichere Formulierungen ohne zusätzlichen sequenziellen Modellaufruf.</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Die vorgeschlagene Frage wird erzeugt, bevor das Backend die Antworten akzeptiert und den nächsten Zustand berechnet hat. Sie kann auf das falsche Ziel zielen, sodass ein Fallback oder eine Wiederholung nötig wird.</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3"/>
                  </a:ext>
                </a:extLst>
              </a:tr>
              <a:tr h="1257665">
                <a:tc>
                  <a:txBody>
                    <a:bodyPr/>
                    <a:lstStyle/>
                    <a:p>
                      <a:pPr marL="0" indent="0" algn="l">
                        <a:buNone/>
                      </a:pPr>
                      <a:r>
                        <a:rPr lang="en-US" sz="1000" b="1" dirty="0">
                          <a:solidFill>
                            <a:srgbClr val="384653"/>
                          </a:solidFill>
                          <a:latin typeface="Montserrat" pitchFamily="34" charset="0"/>
                          <a:ea typeface="Montserrat" pitchFamily="34" charset="-122"/>
                          <a:cs typeface="Montserrat" pitchFamily="34" charset="-120"/>
                        </a:rPr>
                        <a:t>Das LLM steuert das gesamte Interview</a:t>
                      </a:r>
                      <a:endParaRPr lang="en-US" sz="1000" dirty="0">
                        <a:latin typeface="Montserrat" charset="0"/>
                        <a:ea typeface="Montserrat" charset="0"/>
                        <a:cs typeface="Montserrat" charset="0"/>
                      </a:endParaRPr>
                    </a:p>
                  </a:txBody>
                  <a:tcPr marL="128358" marR="128358"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Das Modell erhält den Fragenkatalog und entscheidet selbst, was gefragt wird, wann nachgefragt wird und wann das Interview endet.</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Maximale Flexibilität bei unerwarteten Antworten und Gegenfragen.</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000" dirty="0">
                          <a:solidFill>
                            <a:srgbClr val="384653"/>
                          </a:solidFill>
                          <a:latin typeface="Montserrat" pitchFamily="34" charset="0"/>
                          <a:ea typeface="Montserrat" pitchFamily="34" charset="-122"/>
                          <a:cs typeface="Montserrat" pitchFamily="34" charset="-120"/>
                        </a:rPr>
                        <a:t>Schwieriger zu garantieren: Abdeckung, Vermeidung von Wiederholungen, Einhaltung von Nachfragegrenzen und Reproduzierbarkeit von Fehlern. Strukturierte Ausgabe allein erzwingt diese Gesprächsregeln nicht.</a:t>
                      </a:r>
                      <a:endParaRPr lang="en-US" sz="1000" dirty="0">
                        <a:latin typeface="Montserrat" charset="0"/>
                        <a:ea typeface="Montserrat" charset="0"/>
                        <a:cs typeface="Montserrat" charset="0"/>
                      </a:endParaRPr>
                    </a:p>
                  </a:txBody>
                  <a:tcPr marL="128358" marR="128358"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1908" y="670676"/>
            <a:ext cx="10927878" cy="519609"/>
          </a:xfrm>
          <a:prstGeom prst="rect">
            <a:avLst/>
          </a:prstGeom>
          <a:noFill/>
          <a:ln/>
        </p:spPr>
        <p:txBody>
          <a:bodyPr wrap="none" lIns="0" tIns="0" rIns="0" bIns="0" rtlCol="0" anchor="t"/>
          <a:lstStyle/>
          <a:p>
            <a:pPr marL="0" indent="0" algn="l">
              <a:lnSpc>
                <a:spcPct val="104000"/>
              </a:lnSpc>
              <a:buNone/>
            </a:pPr>
            <a:r>
              <a:rPr lang="en-US" sz="3250" b="1" dirty="0">
                <a:solidFill>
                  <a:srgbClr val="2E3C4E"/>
                </a:solidFill>
                <a:latin typeface="Barlow Bold" pitchFamily="34" charset="0"/>
                <a:ea typeface="Barlow Bold" pitchFamily="34" charset="-122"/>
                <a:cs typeface="Barlow Bold" pitchFamily="34" charset="-120"/>
              </a:rPr>
              <a:t>Komponenten und ihr Zweck / Teil 1</a:t>
            </a:r>
            <a:endParaRPr lang="en-US" sz="3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1908" y="1471017"/>
          <a:ext cx="10927878" cy="4738667"/>
        </p:xfrm>
        <a:graphic>
          <a:graphicData uri="http://schemas.openxmlformats.org/drawingml/2006/table">
            <a:tbl>
              <a:tblPr/>
              <a:tblGrid>
                <a:gridCol w="3278373">
                  <a:extLst>
                    <a:ext uri="{9D8B030D-6E8A-4147-A177-3AD203B41FA5}">
                      <a16:colId xmlns:a16="http://schemas.microsoft.com/office/drawing/2014/main" val="20000"/>
                    </a:ext>
                  </a:extLst>
                </a:gridCol>
                <a:gridCol w="7649505">
                  <a:extLst>
                    <a:ext uri="{9D8B030D-6E8A-4147-A177-3AD203B41FA5}">
                      <a16:colId xmlns:a16="http://schemas.microsoft.com/office/drawing/2014/main" val="20001"/>
                    </a:ext>
                  </a:extLst>
                </a:gridCol>
              </a:tblGrid>
              <a:tr h="458082">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Komponente</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Zweck</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0"/>
                  </a:ext>
                </a:extLst>
              </a:tr>
              <a:tr h="713960">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React + TypeScript</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dirty="0">
                          <a:solidFill>
                            <a:srgbClr val="384653"/>
                          </a:solidFill>
                          <a:latin typeface="Montserrat" pitchFamily="34" charset="0"/>
                          <a:ea typeface="Montserrat" pitchFamily="34" charset="-122"/>
                          <a:cs typeface="Montserrat" pitchFamily="34" charset="-120"/>
                        </a:rPr>
                        <a:t>Browseroberfläche für Startups und Administratoren. Zeigt Gespräch, Fortschritt und Ergebnisse und steuert Mikrofon sowie Audiowiedergabe.</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1"/>
                  </a:ext>
                </a:extLst>
              </a:tr>
              <a:tr h="713960">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FastAPI</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dirty="0">
                          <a:solidFill>
                            <a:srgbClr val="384653"/>
                          </a:solidFill>
                          <a:latin typeface="Montserrat" pitchFamily="34" charset="0"/>
                          <a:ea typeface="Montserrat" pitchFamily="34" charset="-122"/>
                          <a:cs typeface="Montserrat" pitchFamily="34" charset="-120"/>
                        </a:rPr>
                        <a:t>Zentrale Schnittstelle zwischen Browser, Voice-Worker und Backend. Prüft Zugriffsrechte und verarbeitet Konfigurationen sowie Interviewänderungen.</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2"/>
                  </a:ext>
                </a:extLst>
              </a:tr>
              <a:tr h="713960">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Pydantic</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dirty="0">
                          <a:solidFill>
                            <a:srgbClr val="384653"/>
                          </a:solidFill>
                          <a:latin typeface="Montserrat" pitchFamily="34" charset="0"/>
                          <a:ea typeface="Montserrat" pitchFamily="34" charset="-122"/>
                          <a:cs typeface="Montserrat" pitchFamily="34" charset="-120"/>
                        </a:rPr>
                        <a:t>Definiert und validiert Datenstrukturen, beispielsweise Antwortziele, KI-Ergebnisse und Interviewzustände.</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3"/>
                  </a:ext>
                </a:extLst>
              </a:tr>
              <a:tr h="713960">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Interview-Planner</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dirty="0">
                          <a:solidFill>
                            <a:srgbClr val="384653"/>
                          </a:solidFill>
                          <a:latin typeface="Montserrat" pitchFamily="34" charset="0"/>
                          <a:ea typeface="Montserrat" pitchFamily="34" charset="-122"/>
                          <a:cs typeface="Montserrat" pitchFamily="34" charset="-120"/>
                        </a:rPr>
                        <a:t>Steuert Fragenreihenfolge, bedingte Fragen, Rückfragebudget, Korrekturen und Abschluss. Wählt die konfigurierten Fragetexte.</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4"/>
                  </a:ext>
                </a:extLst>
              </a:tr>
              <a:tr h="713960">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Analyse-Modul</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dirty="0">
                          <a:solidFill>
                            <a:srgbClr val="384653"/>
                          </a:solidFill>
                          <a:latin typeface="Montserrat" pitchFamily="34" charset="0"/>
                          <a:ea typeface="Montserrat" pitchFamily="34" charset="-122"/>
                          <a:cs typeface="Montserrat" pitchFamily="34" charset="-120"/>
                        </a:rPr>
                        <a:t>Berechnet Vollständigkeit, Bewertungsabdeckung und Match-Score anhand der gespeicherten Antworten und konfigurierten Regeln.</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5"/>
                  </a:ext>
                </a:extLst>
              </a:tr>
              <a:tr h="710785">
                <a:tc>
                  <a:txBody>
                    <a:bodyPr/>
                    <a:lstStyle/>
                    <a:p>
                      <a:pPr marL="0" indent="0" algn="l">
                        <a:buNone/>
                      </a:pPr>
                      <a:r>
                        <a:rPr lang="en-US" sz="1200" b="1" dirty="0">
                          <a:solidFill>
                            <a:srgbClr val="384653"/>
                          </a:solidFill>
                          <a:latin typeface="Montserrat" pitchFamily="34" charset="0"/>
                          <a:ea typeface="Montserrat" pitchFamily="34" charset="-122"/>
                          <a:cs typeface="Montserrat" pitchFamily="34" charset="-120"/>
                        </a:rPr>
                        <a:t>SQLite / Firestore</a:t>
                      </a:r>
                      <a:endParaRPr lang="en-US" sz="1200" dirty="0">
                        <a:latin typeface="Montserrat" charset="0"/>
                        <a:ea typeface="Montserrat" charset="0"/>
                        <a:cs typeface="Montserrat" charset="0"/>
                      </a:endParaRPr>
                    </a:p>
                  </a:txBody>
                  <a:tcPr marL="157979" marR="157979"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200" dirty="0">
                          <a:solidFill>
                            <a:srgbClr val="384653"/>
                          </a:solidFill>
                          <a:latin typeface="Montserrat" pitchFamily="34" charset="0"/>
                          <a:ea typeface="Montserrat" pitchFamily="34" charset="-122"/>
                          <a:cs typeface="Montserrat" pitchFamily="34" charset="-120"/>
                        </a:rPr>
                        <a:t>Speichert Konfigurationen, Interviews, Antworten und Transkripte. SQLite für lokale Nutzung, Firestore als Implementierung für den Cloud-Betrieb.</a:t>
                      </a:r>
                      <a:endParaRPr lang="en-US" sz="1200" dirty="0">
                        <a:latin typeface="Montserrat" charset="0"/>
                        <a:ea typeface="Montserrat" charset="0"/>
                        <a:cs typeface="Montserrat" charset="0"/>
                      </a:endParaRPr>
                    </a:p>
                  </a:txBody>
                  <a:tcPr marL="157979" marR="157979"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1908" y="483282"/>
            <a:ext cx="10927878" cy="479028"/>
          </a:xfrm>
          <a:prstGeom prst="rect">
            <a:avLst/>
          </a:prstGeom>
          <a:noFill/>
          <a:ln/>
        </p:spPr>
        <p:txBody>
          <a:bodyPr wrap="none" lIns="0" tIns="0" rIns="0" bIns="0" rtlCol="0" anchor="t"/>
          <a:lstStyle/>
          <a:p>
            <a:pPr marL="0" indent="0" algn="l">
              <a:lnSpc>
                <a:spcPct val="104000"/>
              </a:lnSpc>
              <a:buNone/>
            </a:pPr>
            <a:r>
              <a:rPr lang="en-US" sz="3000" b="1" dirty="0">
                <a:solidFill>
                  <a:srgbClr val="2E3C4E"/>
                </a:solidFill>
                <a:latin typeface="Barlow Bold" pitchFamily="34" charset="0"/>
                <a:ea typeface="Barlow Bold" pitchFamily="34" charset="-122"/>
                <a:cs typeface="Barlow Bold" pitchFamily="34" charset="-120"/>
              </a:rPr>
              <a:t>Komponenten und ihr Zweck / Teil 2</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1908" y="1198166"/>
          <a:ext cx="10927878" cy="5196356"/>
        </p:xfrm>
        <a:graphic>
          <a:graphicData uri="http://schemas.openxmlformats.org/drawingml/2006/table">
            <a:tbl>
              <a:tblPr/>
              <a:tblGrid>
                <a:gridCol w="3278373">
                  <a:extLst>
                    <a:ext uri="{9D8B030D-6E8A-4147-A177-3AD203B41FA5}">
                      <a16:colId xmlns:a16="http://schemas.microsoft.com/office/drawing/2014/main" val="20000"/>
                    </a:ext>
                  </a:extLst>
                </a:gridCol>
                <a:gridCol w="7649505">
                  <a:extLst>
                    <a:ext uri="{9D8B030D-6E8A-4147-A177-3AD203B41FA5}">
                      <a16:colId xmlns:a16="http://schemas.microsoft.com/office/drawing/2014/main" val="20001"/>
                    </a:ext>
                  </a:extLst>
                </a:gridCol>
              </a:tblGrid>
              <a:tr h="400735">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Komponente</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Zweck</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0"/>
                  </a:ext>
                </a:extLst>
              </a:tr>
              <a:tr h="627841">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Browser-Audiofunktionen</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Fordern die Mikrofonberechtigung an, erfassen Sprache und zeigen beim Mikrofontest den Eingangspegel.</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1"/>
                  </a:ext>
                </a:extLst>
              </a:tr>
              <a:tr h="627841">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LiveKit Cloud + WebRTC</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Verbinden Browser und Voice-Worker über einen Echtzeitraum. Übertragen Audio und Sitzungsereignisse.</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2"/>
                  </a:ext>
                </a:extLst>
              </a:tr>
              <a:tr h="627841">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Python Voice-Worker / LiveKit Agents</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Koordiniert die Sprachsitzung: empfängt Audio, verbindet Spracherkennung und KI-Auswertung mit dem Backend und lässt dessen Antwort sprechen.</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3"/>
                  </a:ext>
                </a:extLst>
              </a:tr>
              <a:tr h="627841">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VAD und Turn Detection</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Erkennen Sprachaktivität und das wahrscheinliche Ende eines Beitrags. Unterstützen Pausensteuerung und Unterbrechungen.</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4"/>
                  </a:ext>
                </a:extLst>
              </a:tr>
              <a:tr h="627841">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STT-Factory</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Wählt Deepgram oder ElevenLabs als Spracherkennung aus. Beide werden intern über eine gemeinsame Schnittstelle angesprochen.</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5"/>
                  </a:ext>
                </a:extLst>
              </a:tr>
              <a:tr h="403909">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Deepgram / ElevenLabs STT</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Wandeln gesprochene Sprache fortlaufend in Text um.</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6"/>
                  </a:ext>
                </a:extLst>
              </a:tr>
              <a:tr h="627841">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OpenAI / Extractor</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Ordnet Aussagen den Antwortzielen zu, extrahiert Werte und Belege und beurteilt die inhaltliche Vollständigkeit. Erkennt auch Korrekturen und Rückfragen.</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7"/>
                  </a:ext>
                </a:extLst>
              </a:tr>
              <a:tr h="624666">
                <a:tc>
                  <a:txBody>
                    <a:bodyPr/>
                    <a:lstStyle/>
                    <a:p>
                      <a:pPr marL="0" indent="0" algn="l">
                        <a:buNone/>
                      </a:pPr>
                      <a:r>
                        <a:rPr lang="en-US" sz="1100" b="1" dirty="0">
                          <a:solidFill>
                            <a:srgbClr val="384653"/>
                          </a:solidFill>
                          <a:latin typeface="Montserrat" pitchFamily="34" charset="0"/>
                          <a:ea typeface="Montserrat" pitchFamily="34" charset="-122"/>
                          <a:cs typeface="Montserrat" pitchFamily="34" charset="-120"/>
                        </a:rPr>
                        <a:t>ElevenLabs TTS</a:t>
                      </a:r>
                      <a:endParaRPr lang="en-US" sz="1100" dirty="0">
                        <a:latin typeface="Montserrat" charset="0"/>
                        <a:ea typeface="Montserrat" charset="0"/>
                        <a:cs typeface="Montserrat" charset="0"/>
                      </a:endParaRPr>
                    </a:p>
                  </a:txBody>
                  <a:tcPr marL="145637" marR="145637" marT="6350" marB="6350" anchor="ctr">
                    <a:lnL w="12700" cap="flat" cmpd="sng" algn="ctr">
                      <a:solidFill>
                        <a:srgbClr val="BACFDD"/>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tc>
                  <a:txBody>
                    <a:bodyPr/>
                    <a:lstStyle/>
                    <a:p>
                      <a:pPr marL="0" indent="0" algn="l">
                        <a:buNone/>
                      </a:pPr>
                      <a:r>
                        <a:rPr lang="en-US" sz="1100" dirty="0">
                          <a:solidFill>
                            <a:srgbClr val="384653"/>
                          </a:solidFill>
                          <a:latin typeface="Montserrat" pitchFamily="34" charset="0"/>
                          <a:ea typeface="Montserrat" pitchFamily="34" charset="-122"/>
                          <a:cs typeface="Montserrat" pitchFamily="34" charset="-120"/>
                        </a:rPr>
                        <a:t>Wandelt den vom Backend festgelegten Antworttext in gestreamte Sprache um. Stimme und unterstützte Sprachparameter sind konfigurierbar.</a:t>
                      </a:r>
                      <a:endParaRPr lang="en-US" sz="1100" dirty="0">
                        <a:latin typeface="Montserrat" charset="0"/>
                        <a:ea typeface="Montserrat" charset="0"/>
                        <a:cs typeface="Montserrat" charset="0"/>
                      </a:endParaRPr>
                    </a:p>
                  </a:txBody>
                  <a:tcPr marL="145637" marR="145637" marT="6350" marB="6350" anchor="ctr">
                    <a:lnL w="12700" cap="flat" cmpd="sng" algn="ctr">
                      <a:solidFill>
                        <a:srgbClr val="FFFFFF"/>
                      </a:solidFill>
                      <a:prstDash val="solid"/>
                      <a:round/>
                      <a:headEnd type="none" w="med" len="med"/>
                      <a:tailEnd type="none" w="med" len="med"/>
                    </a:lnL>
                    <a:lnR w="12700" cap="flat" cmpd="sng" algn="ctr">
                      <a:solidFill>
                        <a:srgbClr val="BACFDD"/>
                      </a:solidFill>
                      <a:prstDash val="solid"/>
                      <a:round/>
                      <a:headEnd type="none" w="med" len="med"/>
                      <a:tailEnd type="none" w="med" len="med"/>
                    </a:lnR>
                    <a:lnT w="12700" cap="flat" cmpd="sng" algn="ctr">
                      <a:solidFill>
                        <a:srgbClr val="BACFDD"/>
                      </a:solidFill>
                      <a:prstDash val="solid"/>
                      <a:round/>
                      <a:headEnd type="none" w="med" len="med"/>
                      <a:tailEnd type="none" w="med" len="med"/>
                    </a:lnT>
                    <a:lnB w="12700" cap="flat" cmpd="sng" algn="ctr">
                      <a:solidFill>
                        <a:srgbClr val="BACFDD"/>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1908" y="395349"/>
            <a:ext cx="10927878" cy="519609"/>
          </a:xfrm>
          <a:prstGeom prst="rect">
            <a:avLst/>
          </a:prstGeom>
          <a:noFill/>
          <a:ln/>
        </p:spPr>
        <p:txBody>
          <a:bodyPr wrap="none" lIns="0" tIns="0" rIns="0" bIns="0" rtlCol="0" anchor="t"/>
          <a:lstStyle/>
          <a:p>
            <a:pPr marL="0" indent="0" algn="l">
              <a:lnSpc>
                <a:spcPct val="104000"/>
              </a:lnSpc>
              <a:buNone/>
            </a:pPr>
            <a:r>
              <a:rPr lang="en-US" sz="3250" b="1" dirty="0">
                <a:solidFill>
                  <a:srgbClr val="2E3C4E"/>
                </a:solidFill>
                <a:latin typeface="Barlow Bold" pitchFamily="34" charset="0"/>
                <a:ea typeface="Barlow Bold" pitchFamily="34" charset="-122"/>
                <a:cs typeface="Barlow Bold" pitchFamily="34" charset="-120"/>
              </a:rPr>
              <a:t>Ablauf einer Fragerunde</a:t>
            </a:r>
            <a:endParaRPr lang="en-US" sz="3250" dirty="0"/>
          </a:p>
        </p:txBody>
      </p:sp>
      <p:pic>
        <p:nvPicPr>
          <p:cNvPr id="5" name="Grafik 4">
            <a:extLst>
              <a:ext uri="{FF2B5EF4-FFF2-40B4-BE49-F238E27FC236}">
                <a16:creationId xmlns:a16="http://schemas.microsoft.com/office/drawing/2014/main" id="{75DD6E0E-4904-2107-9D8E-B59DC837DC58}"/>
              </a:ext>
            </a:extLst>
          </p:cNvPr>
          <p:cNvPicPr>
            <a:picLocks noChangeAspect="1"/>
          </p:cNvPicPr>
          <p:nvPr/>
        </p:nvPicPr>
        <p:blipFill>
          <a:blip r:embed="rId3"/>
          <a:srcRect b="15379"/>
          <a:stretch>
            <a:fillRect/>
          </a:stretch>
        </p:blipFill>
        <p:spPr>
          <a:xfrm>
            <a:off x="1898920" y="1328256"/>
            <a:ext cx="9015309" cy="57216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580</Words>
  <Application>Microsoft Office PowerPoint</Application>
  <PresentationFormat>Breitbild</PresentationFormat>
  <Paragraphs>71</Paragraphs>
  <Slides>6</Slides>
  <Notes>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Arial</vt:lpstr>
      <vt:lpstr>Montserrat</vt:lpstr>
      <vt:lpstr>Barlow Bold</vt:lpstr>
      <vt:lpstr>Office Theme</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Ralf Graefe</dc:creator>
  <cp:lastModifiedBy>Ralf Graefe</cp:lastModifiedBy>
  <cp:revision>2</cp:revision>
  <dcterms:created xsi:type="dcterms:W3CDTF">2026-10-13T10:53:01Z</dcterms:created>
  <dcterms:modified xsi:type="dcterms:W3CDTF">2026-10-13T15:37:08Z</dcterms:modified>
</cp:coreProperties>
</file>